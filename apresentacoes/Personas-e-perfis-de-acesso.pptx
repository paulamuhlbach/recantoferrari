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7d84776-2c46-e6a7-b846-f5cde78e2c22}">
          <p14:sldIdLst>
            <p14:sldId id="256"/>
            <p14:sldId id="257"/>
          </p14:sldIdLst>
        </p14:section>
        <p14:section name="Perfis de acesso" id="{ef0caf76-629a-ba6a-f905-e1c0cfa54395}">
          <p14:sldIdLst>
            <p14:sldId id="258"/>
          </p14:sldIdLst>
        </p14:section>
        <p14:section name="Personas" id="{56c51697-6052-1a16-d70e-cd48115da196}">
          <p14:sldIdLst>
            <p14:sldId id="259"/>
            <p14:sldId id="260"/>
            <p14:sldId id="261"/>
            <p14:sldId id="262"/>
          </p14:sldIdLst>
        </p14:section>
        <p14:section name="De → para" id="{6db29f53-71df-b228-80ac-a2e471ffb243}">
          <p14:sldIdLst>
            <p14:sldId id="263"/>
          </p14:sldIdLst>
        </p14:section>
        <p14:section name="O que cada um acessa" id="{d8235263-3fa2-2ee3-e6e6-44548aa185a9}">
          <p14:sldIdLst>
            <p14:sldId id="264"/>
            <p14:sldId id="265"/>
          </p14:sldIdLst>
        </p14:section>
        <p14:section name="Privacidade e princípios" id="{34e3011d-1882-9dd2-61c1-2bbc21de0a7e}">
          <p14:sldIdLst>
            <p14:sldId id="266"/>
            <p14:sldId id="267"/>
          </p14:sldIdLst>
        </p14:section>
        <p14:section name="Encerramento" id="{49c5f57a-9b6b-b5f2-4904-fe0cd77a7fe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para o conselho e demais envolvidos: quem são as pessoas que usam o portal, que perfil de acesso cada uma tem e o que cada perfil vê e não vê. As personas são fictícias, mas representam os perfis reais definidos na arquitetura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personas não são pessoas reais do condomínio: são retratos inventados que ajudam a lembrar das diferenças de idade, de aparelho e de familiaridade digital. Servem para desenhar telas, escrever textos e decidir quem vê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usuário começa como morador. Sobre essa base se somam o papel de perfil principal da casa, um cargo na gestão e o papel de administrador do site. Uma pessoa pode ter vários ao mesmo tempo. A administradora condominial é a exceção: não mora no condomínio e só tem as ferramentas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moradores vão de quem resolve tudo pelo celular (Renata) a quem tem pouca familiaridade digital (Seu Antônio). O Lucas mostra o morador que só vê os serviços, sem valores. A Camila representa quem acabou de chegar e ainda não conhece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e Sueli tocam o dia a dia. A Helena preside o conselho e vê tudo, como o síndico e o subsíndico, sem precisar do termo de confidencialidade (decisão de 28/10/2026), para fiscalizar, sem aprovar moradores, atribuir cargos ou configurar. O Otávio, membro do conselho, acompanha números e andamento sem identificar os moradores.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Fernanda é da administradora contratada: não mora aqui e precisa dos dados para cobranças e para o jurídico. O Marcos cuida do site. Pela decisão do síndico, o administrador do site tem os mesmos poderes do síndico depois de assinar o termo de confidencialidade no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Pessoas que não usam o portal, mas aparecem nele ou dependem dele. Ex-moradores ficam com o cadastro inativo e o histórico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 → para liga cada persona ao perfil de acesso que ela tem no portal e resume o que isso quer dizer na prática. Os detalhes do que cada perfil acessa estão nos dois quadros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quadro: o que cada pessoa faz na própria casa. A diferença entre os dois tipos de morador é a parte financeira, que o perfil principal libera ou não. O perfil principal concentra as decisões sobre quem mora na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quadro: as ferramentas de gestão. O síndico e o administrador do site com o termo de confidencialidade assinado têm os mesmos poderes. A presidente do conselho, sem precisar do termo, vê tudo e responde denúncias, mas não aprova moradores, não atribui cargos nem configura. Os demais membros do conselho veem as denúncias só em números e o registro sem identificar as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regras valem no sistema, e não só na tela: mesmo que alguém tente acessar diretamente, o portal não entrega o dado a quem não tem permissão.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princípios resumem o que as personas pedem das telas. Servem de checklist para cada tela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para o conselho validar. O termo de confidencialidade (administrador do site e administradora) e o cargo de presidente do conselho (sem termo) já estão no portal; o texto do termo é um modelo e deve passar pelo jurídico.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5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 Recanto Ferrari · Personas e perfis de acesso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usa o portal e o que cada um vê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 perfis de acesso do Portal do Condomínio Recanto Ferrari · Outubro de 2026</a:t>
            </a:r>
            <a:endParaRPr lang="en-US" sz="2000" dirty="0"/>
          </a:p>
        </p:txBody>
      </p:sp>
      <p:pic>
        <p:nvPicPr>
          <p:cNvPr id="4" name="Image 0" descr="Avatar ilustrado de Renata Lo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240280"/>
            <a:ext cx="749808" cy="749808"/>
          </a:xfrm>
          <a:prstGeom prst="rect">
            <a:avLst/>
          </a:prstGeom>
        </p:spPr>
      </p:pic>
      <p:pic>
        <p:nvPicPr>
          <p:cNvPr id="5" name="Image 1" descr="Avatar ilustrado de Seu Antônio Pr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8" y="2240280"/>
            <a:ext cx="749808" cy="749808"/>
          </a:xfrm>
          <a:prstGeom prst="rect">
            <a:avLst/>
          </a:prstGeom>
        </p:spPr>
      </p:pic>
      <p:pic>
        <p:nvPicPr>
          <p:cNvPr id="6" name="Image 2" descr="Avatar ilustrado de Lucas Lo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240280"/>
            <a:ext cx="749808" cy="749808"/>
          </a:xfrm>
          <a:prstGeom prst="rect">
            <a:avLst/>
          </a:prstGeom>
        </p:spPr>
      </p:pic>
      <p:pic>
        <p:nvPicPr>
          <p:cNvPr id="7" name="Image 3" descr="Avatar ilustrado de Camila Duar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240280"/>
            <a:ext cx="749808" cy="749808"/>
          </a:xfrm>
          <a:prstGeom prst="rect">
            <a:avLst/>
          </a:prstGeom>
        </p:spPr>
      </p:pic>
      <p:pic>
        <p:nvPicPr>
          <p:cNvPr id="8" name="Image 4" descr="Avatar ilustrado de Carlos Menez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7352" y="2240280"/>
            <a:ext cx="749808" cy="749808"/>
          </a:xfrm>
          <a:prstGeom prst="rect">
            <a:avLst/>
          </a:prstGeom>
        </p:spPr>
      </p:pic>
      <p:pic>
        <p:nvPicPr>
          <p:cNvPr id="9" name="Image 5" descr="Avatar ilustrado de Sueli Ram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3108960"/>
            <a:ext cx="749808" cy="749808"/>
          </a:xfrm>
          <a:prstGeom prst="rect">
            <a:avLst/>
          </a:prstGeom>
        </p:spPr>
      </p:pic>
      <p:pic>
        <p:nvPicPr>
          <p:cNvPr id="10" name="Image 6" descr="Avatar ilustrado de Helena Barro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3108960"/>
            <a:ext cx="749808" cy="749808"/>
          </a:xfrm>
          <a:prstGeom prst="rect">
            <a:avLst/>
          </a:prstGeom>
        </p:spPr>
      </p:pic>
      <p:pic>
        <p:nvPicPr>
          <p:cNvPr id="11" name="Image 7" descr="Avatar ilustrado de Otávio Lim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3108960"/>
            <a:ext cx="749808" cy="749808"/>
          </a:xfrm>
          <a:prstGeom prst="rect">
            <a:avLst/>
          </a:prstGeom>
        </p:spPr>
      </p:pic>
      <p:pic>
        <p:nvPicPr>
          <p:cNvPr id="12" name="Image 8" descr="Avatar ilustrado de Fernanda Costa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76104" y="3108960"/>
            <a:ext cx="749808" cy="749808"/>
          </a:xfrm>
          <a:prstGeom prst="rect">
            <a:avLst/>
          </a:prstGeom>
        </p:spPr>
      </p:pic>
      <p:pic>
        <p:nvPicPr>
          <p:cNvPr id="13" name="Image 9" descr="Avatar ilustrado de Marcos Teixeir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17352" y="3108960"/>
            <a:ext cx="749808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servem as personas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reais por trás dos perfis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9019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personas fictícias representam moradores, gestão, administradora e administrador do site, com idades, aparelhos e familiaridades diferentes.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9900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desenhadas para quem vai usar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34107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tela é pensada para uma persona principal e conferida com uma secundária. Se o Seu Antônio entende, todos entendem.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91947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perfis definem o que cada pessoa acessa. A regra vale no sistema, não só na tela, e o que fica oculto é explicado.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503920" y="1463040"/>
            <a:ext cx="3136392" cy="3840480"/>
          </a:xfrm>
          <a:prstGeom prst="roundRect">
            <a:avLst>
              <a:gd name="adj" fmla="val 1458"/>
            </a:avLst>
          </a:prstGeom>
          <a:solidFill>
            <a:srgbClr val="05162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778240" y="1737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5C8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200" dirty="0"/>
          </a:p>
        </p:txBody>
      </p:sp>
      <p:sp>
        <p:nvSpPr>
          <p:cNvPr id="17" name="Text 12"/>
          <p:cNvSpPr txBox="1"/>
          <p:nvPr/>
        </p:nvSpPr>
        <p:spPr>
          <a:xfrm>
            <a:off x="877824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778240" y="338328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moradores, 5 na gestão do condomínio e 1 administrador do site. Nomes e histórias são inventados.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perfis de acesso se somam</a:t>
            </a:r>
            <a:endParaRPr lang="en-US" sz="3200" dirty="0"/>
          </a:p>
        </p:txBody>
      </p:sp>
      <p:sp>
        <p:nvSpPr>
          <p:cNvPr id="3" name="base-morador"/>
          <p:cNvSpPr/>
          <p:nvPr/>
        </p:nvSpPr>
        <p:spPr>
          <a:xfrm>
            <a:off x="548640" y="4434840"/>
            <a:ext cx="7863840" cy="1005840"/>
          </a:xfrm>
          <a:prstGeom prst="roundRect">
            <a:avLst>
              <a:gd name="adj" fmla="val 4545"/>
            </a:avLst>
          </a:prstGeom>
          <a:solidFill>
            <a:srgbClr val="F5C8A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19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mora no condomínio. Vê a própria casa, avisos, documentos e ouvidoria.</a:t>
            </a:r>
            <a:endParaRPr lang="en-US" sz="1400" dirty="0"/>
          </a:p>
        </p:txBody>
      </p:sp>
      <p:sp>
        <p:nvSpPr>
          <p:cNvPr id="6" name="camada-0"/>
          <p:cNvSpPr/>
          <p:nvPr/>
        </p:nvSpPr>
        <p:spPr>
          <a:xfrm>
            <a:off x="54864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9E38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principal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casa: indica e remove moradores, escolhe quem vê a parte financeira.</a:t>
            </a:r>
            <a:endParaRPr lang="en-US" sz="1300" dirty="0"/>
          </a:p>
        </p:txBody>
      </p:sp>
      <p:sp>
        <p:nvSpPr>
          <p:cNvPr id="10" name="camada-1"/>
          <p:cNvSpPr/>
          <p:nvPr/>
        </p:nvSpPr>
        <p:spPr>
          <a:xfrm>
            <a:off x="324612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264B6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4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Síndico, subsíndico, presidente do conselho ou conselho. Cada cargo vê e faz coisas diferentes.</a:t>
            </a:r>
            <a:endParaRPr lang="en-US" sz="1300" dirty="0"/>
          </a:p>
        </p:txBody>
      </p:sp>
      <p:sp>
        <p:nvSpPr>
          <p:cNvPr id="14" name="camada-2"/>
          <p:cNvSpPr/>
          <p:nvPr/>
        </p:nvSpPr>
        <p:spPr>
          <a:xfrm>
            <a:off x="594360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D46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6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do site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o portal funcionar. Com o termo de confidencialidade assinado, tem os poderes do síndico.</a:t>
            </a:r>
            <a:endParaRPr lang="en-US" sz="1300" dirty="0"/>
          </a:p>
        </p:txBody>
      </p:sp>
      <p:sp>
        <p:nvSpPr>
          <p:cNvPr id="18" name="administradora"/>
          <p:cNvSpPr/>
          <p:nvPr/>
        </p:nvSpPr>
        <p:spPr>
          <a:xfrm>
            <a:off x="8778240" y="1463040"/>
            <a:ext cx="2862072" cy="3977640"/>
          </a:xfrm>
          <a:prstGeom prst="roundRect">
            <a:avLst>
              <a:gd name="adj" fmla="val 1597"/>
            </a:avLst>
          </a:prstGeom>
          <a:solidFill>
            <a:srgbClr val="051622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91640"/>
            <a:ext cx="502920" cy="5029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52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condominial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30632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que não é moradora. Entra direto na gestão, vê os dados para cobranças e denúncias, e o acesso vale enquanto durar o contrato.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o síndico é morador, tem cargo na gestão e pode ser também administrador do site.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Moradores</a:t>
            </a:r>
            <a:endParaRPr lang="en-US" sz="3200" dirty="0"/>
          </a:p>
        </p:txBody>
      </p:sp>
      <p:sp>
        <p:nvSpPr>
          <p:cNvPr id="3" name="card-Renata Lop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Renata Lop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Renata Lopes, 46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resolver as coisas da casa em dois minutos, entre uma reunião e outra.”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valores à vista; saber quem da casa já respondeu.</a:t>
            </a:r>
            <a:endParaRPr lang="en-US" sz="1300" dirty="0"/>
          </a:p>
        </p:txBody>
      </p:sp>
      <p:sp>
        <p:nvSpPr>
          <p:cNvPr id="11" name="card-Seu Antônio Prado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eu Antônio Prado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Antônio Prado, 74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tablet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não entender a tela, eu ligo para o síndico.”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botões com verbo, confirmação depois de cada envio.</a:t>
            </a:r>
            <a:endParaRPr lang="en-US" sz="1300" dirty="0"/>
          </a:p>
        </p:txBody>
      </p:sp>
      <p:sp>
        <p:nvSpPr>
          <p:cNvPr id="19" name="card-Lucas Lope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Lucas Lope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Lopes, 21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só os serviços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“Só entro quando alguém me pede para mandar a foto do relógio da água.”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fazer e sair; câmera abrindo direto no celular.</a:t>
            </a:r>
            <a:endParaRPr lang="en-US" sz="1300" dirty="0"/>
          </a:p>
        </p:txBody>
      </p:sp>
      <p:sp>
        <p:nvSpPr>
          <p:cNvPr id="27" name="card-Camila Duarte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Camila Duarte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Camila Duarte, 33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 (locatária)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“Acabei de me mudar e não sei como as coisas funcionam aqui.”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que explica o papel; situação de cada pessoa da casa visível.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3200" dirty="0"/>
          </a:p>
        </p:txBody>
      </p:sp>
      <p:sp>
        <p:nvSpPr>
          <p:cNvPr id="3" name="card-Carlos Menez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Carlos Menez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Menezes, 58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 e administrador do site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“Sou voluntário. Preciso que o portal me poupe tempo, não que me dê trabalho.”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num lugar só; regras configuráveis; registro de quem fez o quê.</a:t>
            </a:r>
            <a:endParaRPr lang="en-US" sz="1300" dirty="0"/>
          </a:p>
        </p:txBody>
      </p:sp>
      <p:sp>
        <p:nvSpPr>
          <p:cNvPr id="11" name="card-Sueli Ramos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ueli Ramos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Sueli Ramos, 51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Subsíndica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“Quando o Carlos viaja, sou eu que respondo.”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cada demanda: quem leu, quem respondeu e quando.</a:t>
            </a:r>
            <a:endParaRPr lang="en-US" sz="1300" dirty="0"/>
          </a:p>
        </p:txBody>
      </p:sp>
      <p:sp>
        <p:nvSpPr>
          <p:cNvPr id="19" name="card-Helena Barro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Helena Barro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Helena Barros, 66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conselho responde aos moradores. Preciso ver o que o síndico vê para fiscalizar de verdade.”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completos, como o síndico, sem termo; registro fácil de filtrar.</a:t>
            </a:r>
            <a:endParaRPr lang="en-US" sz="1300" dirty="0"/>
          </a:p>
        </p:txBody>
      </p:sp>
      <p:sp>
        <p:nvSpPr>
          <p:cNvPr id="27" name="card-Otávio Lima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Otávio Lima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Otávio Lima, 63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do conselho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acompanhar se a gestão está funcionando, sem me meter na vida dos vizinhos.”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 andamento, sem identificar as pessoas.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e administrador do site</a:t>
            </a:r>
            <a:endParaRPr lang="en-US" sz="3200" dirty="0"/>
          </a:p>
        </p:txBody>
      </p:sp>
      <p:sp>
        <p:nvSpPr>
          <p:cNvPr id="3" name="card-Fernanda Costa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Fernanda Costa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Costa, 38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82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condominial (não moradora)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do escritório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“Cuido de vinte condomínios. Preciso dos dados certos, rápido, e de registro de tudo.”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direto na gestão; exportações para o boleto; acesso ligado ao contrato.</a:t>
            </a:r>
            <a:endParaRPr lang="en-US" sz="1300" dirty="0"/>
          </a:p>
        </p:txBody>
      </p:sp>
      <p:sp>
        <p:nvSpPr>
          <p:cNvPr id="11" name="card-Marcos Teixeira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Marcos Teixeira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Teixeira, 41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(com o termo)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“Tenho acesso a tudo, então assinei o termo de confidencialidade. Sigilo é parte do trabalho.”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 claro, assinado no próprio portal; saber o que muda antes e depois de assinar.</a:t>
            </a:r>
            <a:endParaRPr lang="en-US" sz="1300" dirty="0"/>
          </a:p>
        </p:txBody>
      </p:sp>
      <p:sp>
        <p:nvSpPr>
          <p:cNvPr id="19" name="termo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1923"/>
            </a:avLst>
          </a:prstGeom>
          <a:solidFill>
            <a:srgbClr val="051622"/>
          </a:solidFill>
          <a:ln/>
        </p:spPr>
      </p:sp>
      <p:sp>
        <p:nvSpPr>
          <p:cNvPr id="20" name="Shape 14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20240" y="42702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de confidencialidade (decisões de 18/10 e 28/10/2026)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920240" y="4754880"/>
            <a:ext cx="93570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cuida do funcionamento do portal, sem ver dados pessoais.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tem os poderes do síndico. A presidente do conselho não assina: vê como o síndico.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assina: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próprio portal, lendo o termo e digitando o nome completo. Texto, nome, data e IP ficam guardados; se o texto mudar, assina de novo.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usa o portal, mas é afetado por ele</a:t>
            </a:r>
            <a:endParaRPr lang="en-US" sz="3200" dirty="0"/>
          </a:p>
        </p:txBody>
      </p:sp>
      <p:sp>
        <p:nvSpPr>
          <p:cNvPr id="3" name="fora-0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Ex-moradores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inativo: não entram mais, mas a moradia e o histórico ficam guardados para a gestão.</a:t>
            </a:r>
            <a:endParaRPr lang="en-US" sz="1400" dirty="0"/>
          </a:p>
        </p:txBody>
      </p:sp>
      <p:sp>
        <p:nvSpPr>
          <p:cNvPr id="8" name="fora-1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53048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216" y="18470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53048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 canceladas ou recusadas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53048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chegaram a morar; não aparecem entre os ex-moradores.</a:t>
            </a:r>
            <a:endParaRPr lang="en-US" sz="1400" dirty="0"/>
          </a:p>
        </p:txBody>
      </p:sp>
      <p:sp>
        <p:nvSpPr>
          <p:cNvPr id="13" name="fora-2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Prestadores de serviço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68680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 a lista de casas exportada pelo síndico, fora do portal.</a:t>
            </a:r>
            <a:endParaRPr lang="en-US" sz="1400" dirty="0"/>
          </a:p>
        </p:txBody>
      </p:sp>
      <p:sp>
        <p:nvSpPr>
          <p:cNvPr id="18" name="fora-3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53048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216" y="44988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53048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Visitantes, corretores e imobiliárias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553048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acesso: o portal é só de quem foi convidado ou aprovado.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→ para: cada persona e o seu perfil de acesso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"/>
                <a:gridCol w="3108960"/>
                <a:gridCol w="487649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De: persona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Para: perfil de acesso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prática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Renata, Seu Antônio, Camila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perfil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 da própria casa: indica e remove moradores, escolhe quem vê a parte financeira, recebe as cobranças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(só os serviços)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a casa, avisos, serviços sem valores; envia a leitura do hidrômetro e demandas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síndico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a gestão: aprova moradores, troca o principal, atribui cargos, configura regras e 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Sueli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subsíndica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do dia a dia e denúncias; não aprova moradores nem atribui cargos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presidente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tudo e responde denúncias, como o síndico e o subsíndico, sem termo; não aprova, não atribui cargos nem configura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Otávio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membro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 a gestão; denúncias só em números e registro de atividades sem identificar ninguém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Administradora condominial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com dados pessoais e denúncias; sem as funções de morador; acesso pelo prazo do 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termo de confidencialidade assinado: tudo, como o síndico. Sem o termo: só o funcionamento do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própria casa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2011680"/>
                <a:gridCol w="2499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própria casa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os serviços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 com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financeira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principal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Avisos, documentos e coleta de lixo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demandas à ouvidoria (com nome ou sem) e acompanhar as suas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os moradores e os pets da casa; cadastrar pets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a leitura do hidrômetro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valores e cobranças da casa; aderir a serviços cobrados no boleto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e remover moradores; passar a função de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quem da casa vê a parte financeira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os avisos de cobrança e os avisos oficiais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O próprio e o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se o morador vê a parte financeira é o perfil principal. Quem é da gestão ou administrador do site também é morador: na própria casa, valem estas colunas. A administradora condominial não mora no condomínio e não tem estas funções.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gestão do condomínio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188720"/>
                <a:gridCol w="1188720"/>
                <a:gridCol w="1280160"/>
                <a:gridCol w="1280160"/>
                <a:gridCol w="1188720"/>
                <a:gridCol w="14447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gestão do 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Presidente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Membros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 do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o termo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casas e enviar convites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Aprovar moradores indicados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perfil principal de uma casa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todas as casas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demandas da ouvidoria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denúncias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números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 de 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Mudar o prazo de guarda do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cargos e o papel de administrador do 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as regras da gestão (prazos, textos)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o site e o conteúdo institucional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nomes: código no lugar do nome, sem casa, e-mail, motivo ou IP. Se configurado: só se o síndico ligar a opção. O presidente do conselho não assina o termo. Sem o termo assinado, o administrador do site só cadastra casas, envia convites e configura o site, sem dados pessoais.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regras de privacidade</a:t>
            </a:r>
            <a:endParaRPr lang="en-US" sz="3200" dirty="0"/>
          </a:p>
        </p:txBody>
      </p:sp>
      <p:sp>
        <p:nvSpPr>
          <p:cNvPr id="3" name="regra-0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938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conselho sem identificação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Denúncias só em números e registro com códigos. A presidência do conselho vê tudo, como o síndico.</a:t>
            </a:r>
            <a:endParaRPr lang="en-US" sz="1400" dirty="0"/>
          </a:p>
        </p:txBody>
      </p:sp>
      <p:sp>
        <p:nvSpPr>
          <p:cNvPr id="8" name="regra-1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312" y="19385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antes dos dados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e administradora só veem os dados depois de assinar o termo de confidencialidade.</a:t>
            </a:r>
            <a:endParaRPr lang="en-US" sz="1400" dirty="0"/>
          </a:p>
        </p:txBody>
      </p:sp>
      <p:sp>
        <p:nvSpPr>
          <p:cNvPr id="13" name="regra-2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496" y="19385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Anonimato garantido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sem identificação não gera registro de atividade nem guarda IP.</a:t>
            </a:r>
            <a:endParaRPr lang="en-US" sz="1400" dirty="0"/>
          </a:p>
        </p:txBody>
      </p:sp>
      <p:sp>
        <p:nvSpPr>
          <p:cNvPr id="18" name="regra-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679" y="193852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com prazo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e quando, guardado por 5 anos (configurável) e depois apagado.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que saem das personas</a:t>
            </a:r>
            <a:endParaRPr lang="en-US" sz="3200" dirty="0"/>
          </a:p>
        </p:txBody>
      </p:sp>
      <p:sp>
        <p:nvSpPr>
          <p:cNvPr id="3" name="principio-0"/>
          <p:cNvSpPr/>
          <p:nvPr/>
        </p:nvSpPr>
        <p:spPr>
          <a:xfrm>
            <a:off x="548640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o morador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feitas para o morador; no Início, cada perfil vê primeiro o que mais usa.</a:t>
            </a:r>
            <a:endParaRPr lang="en-US" sz="1400" dirty="0"/>
          </a:p>
        </p:txBody>
      </p:sp>
      <p:sp>
        <p:nvSpPr>
          <p:cNvPr id="7" name="principio-1"/>
          <p:cNvSpPr/>
          <p:nvPr/>
        </p:nvSpPr>
        <p:spPr>
          <a:xfrm>
            <a:off x="4338218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 primeiro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esquecer o computador de quem prefere a tela grande.</a:t>
            </a:r>
            <a:endParaRPr lang="en-US" sz="1400" dirty="0"/>
          </a:p>
        </p:txBody>
      </p:sp>
      <p:sp>
        <p:nvSpPr>
          <p:cNvPr id="11" name="principio-2"/>
          <p:cNvSpPr/>
          <p:nvPr/>
        </p:nvSpPr>
        <p:spPr>
          <a:xfrm>
            <a:off x="8127797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para todas as idades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verbos nos botões, confirmação depois de cada envio.</a:t>
            </a:r>
            <a:endParaRPr lang="en-US" sz="1400" dirty="0"/>
          </a:p>
        </p:txBody>
      </p:sp>
      <p:sp>
        <p:nvSpPr>
          <p:cNvPr id="15" name="principio-3"/>
          <p:cNvSpPr/>
          <p:nvPr/>
        </p:nvSpPr>
        <p:spPr>
          <a:xfrm>
            <a:off x="548640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casa responde uma vez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Adesão e leitura são da casa: a tela mostra quem já respondeu.</a:t>
            </a:r>
            <a:endParaRPr lang="en-US" sz="1400" dirty="0"/>
          </a:p>
        </p:txBody>
      </p:sp>
      <p:sp>
        <p:nvSpPr>
          <p:cNvPr id="19" name="principio-4"/>
          <p:cNvSpPr/>
          <p:nvPr/>
        </p:nvSpPr>
        <p:spPr>
          <a:xfrm>
            <a:off x="4338218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2538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612538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quando algo fica oculto, a tela explica por quê.</a:t>
            </a:r>
            <a:endParaRPr lang="en-US" sz="1400" dirty="0"/>
          </a:p>
        </p:txBody>
      </p:sp>
      <p:sp>
        <p:nvSpPr>
          <p:cNvPr id="23" name="principio-5"/>
          <p:cNvSpPr/>
          <p:nvPr/>
        </p:nvSpPr>
        <p:spPr>
          <a:xfrm>
            <a:off x="8127797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02117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8402117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fixo no código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Prazos, textos e regras ficam nas configurações.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conselho confirmar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0"/>
            <a:ext cx="10789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do termo de confidencialidade (revisar com o jurídico).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conselho: vê tudo, sem assinar o termo, e não aprova moradores, atribui cargos nem configura.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principal passa a ver os ex-moradores da própria casa?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guarda do registro: 5 anos.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troca do principal e de remoção de morador só para o síndico.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cada perfil vê primeiro no Início (hoje: avisos primeiro; para o síndico, a gestão no alto).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com adesão: só o síndico abre as ofertas; prazo sugerido de 2 dias antes.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Água: forma de cálculo (valor do m³ ou rateio) e casa sem leitura pela média.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004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Serviços e conta de água: quem faz o quê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188720"/>
                <a:gridCol w="1188720"/>
                <a:gridCol w="1280160"/>
                <a:gridCol w="1280160"/>
                <a:gridCol w="1188720"/>
                <a:gridCol w="14447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Serviços e conta de água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Presidente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Membros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 do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o termo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Abrir, editar, adiar e cancelar ofertas de serviço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as adesões e exportar as listas (Excel, PDF, CSV)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as leituras e as fotos do hidrômetro de todas as casas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Conferir leituras e pedir nova foto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a água e exportar para o boleto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configurado: o síndico escolhe os cargos nas configurações. Hoje, só o síndico gerencia os serviços; o síndico e a administradora conferem as leituras e calculam a água. A administradora precisa do termo assinado. Na própria casa, o morador adere aos serviços e envia a leitura (slide 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anto Ferrari">
  <a:themeElements>
    <a:clrScheme name="Recanto Ferrari">
      <a:dk1>
        <a:srgbClr val="2B1E1C"/>
      </a:dk1>
      <a:lt1>
        <a:srgbClr val="FFFFFF"/>
      </a:lt1>
      <a:dk2>
        <a:srgbClr val="051622"/>
      </a:dk2>
      <a:lt2>
        <a:srgbClr val="FAF7F2"/>
      </a:lt2>
      <a:accent1>
        <a:srgbClr val="9E3826"/>
      </a:accent1>
      <a:accent2>
        <a:srgbClr val="264B65"/>
      </a:accent2>
      <a:accent3>
        <a:srgbClr val="D46A43"/>
      </a:accent3>
      <a:accent4>
        <a:srgbClr val="545814"/>
      </a:accent4>
      <a:accent5>
        <a:srgbClr val="78287C"/>
      </a:accent5>
      <a:accent6>
        <a:srgbClr val="6E5B58"/>
      </a:accent6>
      <a:hlink>
        <a:srgbClr val="264B65"/>
      </a:hlink>
      <a:folHlink>
        <a:srgbClr val="78287C"/>
      </a:folHlink>
    </a:clrScheme>
    <a:fontScheme name="Recanto Ferrar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Condomínio Recanto Ferrari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Personas e perfis de acesso</dc:title>
  <dc:subject>PptxGenJS Presentation</dc:subject>
  <dc:creator>Condomínio Recanto Ferrari</dc:creator>
  <cp:lastModifiedBy>Condomínio Recanto Ferrari</cp:lastModifiedBy>
  <cp:revision>1</cp:revision>
  <dcterms:created xsi:type="dcterms:W3CDTF">2026-10-19T00:27:59Z</dcterms:created>
  <dcterms:modified xsi:type="dcterms:W3CDTF">2026-10-19T00:27:59Z</dcterms:modified>
</cp:coreProperties>
</file>