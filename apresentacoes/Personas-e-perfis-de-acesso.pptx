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2169a61-8a15-8903-53e0-77df48f33f8b}">
          <p14:sldIdLst>
            <p14:sldId id="256"/>
            <p14:sldId id="257"/>
          </p14:sldIdLst>
        </p14:section>
        <p14:section name="Perfis de acesso" id="{3e2a8dd7-2d7e-24e4-733c-29c0a05c1997}">
          <p14:sldIdLst>
            <p14:sldId id="258"/>
          </p14:sldIdLst>
        </p14:section>
        <p14:section name="Personas" id="{f62c95f9-f9ea-d23e-eb70-91c83f808411}">
          <p14:sldIdLst>
            <p14:sldId id="259"/>
            <p14:sldId id="260"/>
            <p14:sldId id="261"/>
          </p14:sldIdLst>
        </p14:section>
        <p14:section name="De → para" id="{07d77934-6659-d229-0251-aaa5e842b50f}">
          <p14:sldIdLst>
            <p14:sldId id="262"/>
          </p14:sldIdLst>
        </p14:section>
        <p14:section name="O que cada um acessa" id="{6a670eaf-bf73-7493-86ab-716dc4ef1305}">
          <p14:sldIdLst>
            <p14:sldId id="263"/>
            <p14:sldId id="264"/>
          </p14:sldIdLst>
        </p14:section>
        <p14:section name="Privacidade e princípios" id="{1c9880e5-9585-1381-8842-8d547fc07c00}">
          <p14:sldIdLst>
            <p14:sldId id="265"/>
            <p14:sldId id="266"/>
          </p14:sldIdLst>
        </p14:section>
        <p14:section name="Encerramento" id="{dda9d575-b5b5-6758-4062-1a7cdabd594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para o conselho e demais envolvidos: quem são as pessoas que usam o portal, que perfil de acesso cada uma tem e o que cada perfil vê e não vê. As personas são fictícias, mas representam os perfis reais definidos na arquitetura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personas não são pessoas reais do condomínio: são retratos inventados que ajudam a lembrar das diferenças de idade, de aparelho e de familiaridade digital. Servem para desenhar telas, escrever textos e decidir quem vê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usuário começa como morador. Sobre essa base se somam o papel de perfil principal da casa, um cargo na gestão e o papel de administrador do site. Uma pessoa pode ter vários ao mesmo tempo. A administradora condominial é a exceção: não mora no condomínio e só tem as ferramentas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moradores vão de quem resolve tudo pelo celular (Renata) a quem tem pouca familiaridade digital (Seu Antônio). O Lucas mostra o morador que só vê os serviços, sem valores. A Camila representa quem acabou de chegar e ainda não conhece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e Sueli tocam o dia a dia. O Otávio, do conselho, acompanha números e andamento sem identificar os moradores. A Fernanda é da administradora contratada: não mora aqui e precisa dos dados para cobranças e para o jurídico.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Marcos cuida do funcionamento do portal. A regra geral é que ele não vê dados pessoais; a exceção decidida é o registro de atividades. À direita, quem não usa o portal mas é afetado: ex-moradores ficam com o cadastro inativo e o histórico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 → para liga cada persona ao perfil de acesso que ela tem no portal e resume o que isso quer dizer na prática. Os detalhes do que cada perfil acessa estão nos dois quadros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quadro: o que cada pessoa faz na própria casa. A diferença entre os dois tipos de morador é a parte financeira, que o perfil principal libera ou não. O perfil principal concentra as decisões sobre quem mora na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quadro: as ferramentas de gestão. O síndico é o único que atribui cargos e configura as regras. O conselho acompanha tudo, mas as denúncias aparecem só em números e o registro de atividades aparece sem identificar as pessoas. O administrador do site, sem cargo, não vê dados pessoais, com a exceção do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regras valem no sistema, e não só na tela: mesmo que alguém tente acessar diretamente, o portal não entrega o dado a quem não tem permissão.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princípios resumem o que as personas pedem das telas. Servem de checklist para cada tela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em aberto para o conselho validar. Os três primeiros já estão funcionando no portal como descrito; o segundo ainda não foi feito e depende da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5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7724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772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 Recanto Ferrari · Personas e perfis de acesso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usa o portal e o que cada um vê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 perfis de acesso do Portal do Condomínio Recanto Ferrari · Outubro de 2026</a:t>
            </a:r>
            <a:endParaRPr lang="en-US" sz="2000" dirty="0"/>
          </a:p>
        </p:txBody>
      </p:sp>
      <p:pic>
        <p:nvPicPr>
          <p:cNvPr id="4" name="Image 0" descr="Avatar ilustrado de Renata Lo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737360"/>
            <a:ext cx="914400" cy="914400"/>
          </a:xfrm>
          <a:prstGeom prst="rect">
            <a:avLst/>
          </a:prstGeom>
        </p:spPr>
      </p:pic>
      <p:pic>
        <p:nvPicPr>
          <p:cNvPr id="5" name="Image 1" descr="Avatar ilustrado de Seu Antônio Pr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1737360"/>
            <a:ext cx="914400" cy="914400"/>
          </a:xfrm>
          <a:prstGeom prst="rect">
            <a:avLst/>
          </a:prstGeom>
        </p:spPr>
      </p:pic>
      <p:pic>
        <p:nvPicPr>
          <p:cNvPr id="6" name="Image 2" descr="Avatar ilustrado de Lucas Lo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0776" y="1737360"/>
            <a:ext cx="914400" cy="914400"/>
          </a:xfrm>
          <a:prstGeom prst="rect">
            <a:avLst/>
          </a:prstGeom>
        </p:spPr>
      </p:pic>
      <p:pic>
        <p:nvPicPr>
          <p:cNvPr id="7" name="Image 3" descr="Avatar ilustrado de Camila Duar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761488"/>
            <a:ext cx="914400" cy="914400"/>
          </a:xfrm>
          <a:prstGeom prst="rect">
            <a:avLst/>
          </a:prstGeom>
        </p:spPr>
      </p:pic>
      <p:pic>
        <p:nvPicPr>
          <p:cNvPr id="8" name="Image 4" descr="Avatar ilustrado de Carlos Menez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6648" y="2761488"/>
            <a:ext cx="914400" cy="914400"/>
          </a:xfrm>
          <a:prstGeom prst="rect">
            <a:avLst/>
          </a:prstGeom>
        </p:spPr>
      </p:pic>
      <p:pic>
        <p:nvPicPr>
          <p:cNvPr id="9" name="Image 5" descr="Avatar ilustrado de Sueli Ram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0776" y="2761488"/>
            <a:ext cx="914400" cy="914400"/>
          </a:xfrm>
          <a:prstGeom prst="rect">
            <a:avLst/>
          </a:prstGeom>
        </p:spPr>
      </p:pic>
      <p:pic>
        <p:nvPicPr>
          <p:cNvPr id="10" name="Image 6" descr="Avatar ilustrado de Otávio Li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0" y="3785616"/>
            <a:ext cx="914400" cy="914400"/>
          </a:xfrm>
          <a:prstGeom prst="rect">
            <a:avLst/>
          </a:prstGeom>
        </p:spPr>
      </p:pic>
      <p:pic>
        <p:nvPicPr>
          <p:cNvPr id="11" name="Image 7" descr="Avatar ilustrado de Fernanda Cost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6648" y="3785616"/>
            <a:ext cx="914400" cy="914400"/>
          </a:xfrm>
          <a:prstGeom prst="rect">
            <a:avLst/>
          </a:prstGeom>
        </p:spPr>
      </p:pic>
      <p:pic>
        <p:nvPicPr>
          <p:cNvPr id="12" name="Image 8" descr="Avatar ilustrado de Marcos Teixeira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80776" y="3785616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servem as personas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reais por trás dos perfis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9019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personas fictícias representam moradores, gestão, administradora e administrador do site, com idades, aparelhos e familiaridades diferentes.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9900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desenhadas para quem vai usar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34107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tela é pensada para uma persona principal e conferida com uma secundária. Se o Seu Antônio entende, todos entendem.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91947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perfis definem o que cada pessoa acessa. A regra vale no sistema, não só na tela, e o que fica oculto é explicado.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503920" y="1463040"/>
            <a:ext cx="3136392" cy="3840480"/>
          </a:xfrm>
          <a:prstGeom prst="roundRect">
            <a:avLst>
              <a:gd name="adj" fmla="val 1458"/>
            </a:avLst>
          </a:prstGeom>
          <a:solidFill>
            <a:srgbClr val="05162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778240" y="1737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5C8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200" dirty="0"/>
          </a:p>
        </p:txBody>
      </p:sp>
      <p:sp>
        <p:nvSpPr>
          <p:cNvPr id="17" name="Text 12"/>
          <p:cNvSpPr txBox="1"/>
          <p:nvPr/>
        </p:nvSpPr>
        <p:spPr>
          <a:xfrm>
            <a:off x="877824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778240" y="338328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moradores, 4 na gestão do condomínio e 1 administrador do site. Nomes e histórias são inventados.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perfis de acesso se somam</a:t>
            </a:r>
            <a:endParaRPr lang="en-US" sz="3200" dirty="0"/>
          </a:p>
        </p:txBody>
      </p:sp>
      <p:sp>
        <p:nvSpPr>
          <p:cNvPr id="3" name="base-morador"/>
          <p:cNvSpPr/>
          <p:nvPr/>
        </p:nvSpPr>
        <p:spPr>
          <a:xfrm>
            <a:off x="548640" y="4434840"/>
            <a:ext cx="7863840" cy="1005840"/>
          </a:xfrm>
          <a:prstGeom prst="roundRect">
            <a:avLst>
              <a:gd name="adj" fmla="val 4545"/>
            </a:avLst>
          </a:prstGeom>
          <a:solidFill>
            <a:srgbClr val="F5C8A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19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mora no condomínio. Vê a própria casa, avisos, documentos e ouvidoria.</a:t>
            </a:r>
            <a:endParaRPr lang="en-US" sz="1400" dirty="0"/>
          </a:p>
        </p:txBody>
      </p:sp>
      <p:sp>
        <p:nvSpPr>
          <p:cNvPr id="6" name="camada-0"/>
          <p:cNvSpPr/>
          <p:nvPr/>
        </p:nvSpPr>
        <p:spPr>
          <a:xfrm>
            <a:off x="54864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9E38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principal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casa: indica e remove moradores, escolhe quem vê a parte financeira.</a:t>
            </a:r>
            <a:endParaRPr lang="en-US" sz="1300" dirty="0"/>
          </a:p>
        </p:txBody>
      </p:sp>
      <p:sp>
        <p:nvSpPr>
          <p:cNvPr id="10" name="camada-1"/>
          <p:cNvSpPr/>
          <p:nvPr/>
        </p:nvSpPr>
        <p:spPr>
          <a:xfrm>
            <a:off x="324612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264B6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4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Síndico, subsíndico ou conselho. Cada cargo vê e faz coisas diferentes.</a:t>
            </a:r>
            <a:endParaRPr lang="en-US" sz="1300" dirty="0"/>
          </a:p>
        </p:txBody>
      </p:sp>
      <p:sp>
        <p:nvSpPr>
          <p:cNvPr id="14" name="camada-2"/>
          <p:cNvSpPr/>
          <p:nvPr/>
        </p:nvSpPr>
        <p:spPr>
          <a:xfrm>
            <a:off x="594360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D46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6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do site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o portal funcionar. Sem cargo, não vê dados pessoais.</a:t>
            </a:r>
            <a:endParaRPr lang="en-US" sz="1300" dirty="0"/>
          </a:p>
        </p:txBody>
      </p:sp>
      <p:sp>
        <p:nvSpPr>
          <p:cNvPr id="18" name="administradora"/>
          <p:cNvSpPr/>
          <p:nvPr/>
        </p:nvSpPr>
        <p:spPr>
          <a:xfrm>
            <a:off x="8778240" y="1463040"/>
            <a:ext cx="2862072" cy="3977640"/>
          </a:xfrm>
          <a:prstGeom prst="roundRect">
            <a:avLst>
              <a:gd name="adj" fmla="val 1597"/>
            </a:avLst>
          </a:prstGeom>
          <a:solidFill>
            <a:srgbClr val="051622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91640"/>
            <a:ext cx="502920" cy="5029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52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condominial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30632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que não é moradora. Entra direto na gestão, vê os dados para cobranças e denúncias, e o acesso vale enquanto durar o contrato.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o síndico é morador, tem cargo na gestão e pode ser também administrador do site.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Moradores</a:t>
            </a:r>
            <a:endParaRPr lang="en-US" sz="3200" dirty="0"/>
          </a:p>
        </p:txBody>
      </p:sp>
      <p:sp>
        <p:nvSpPr>
          <p:cNvPr id="3" name="card-Renata Lop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Renata Lop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Renata Lopes, 46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resolver as coisas da casa em dois minutos, entre uma reunião e outra.”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valores à vista; saber quem da casa já respondeu.</a:t>
            </a:r>
            <a:endParaRPr lang="en-US" sz="1300" dirty="0"/>
          </a:p>
        </p:txBody>
      </p:sp>
      <p:sp>
        <p:nvSpPr>
          <p:cNvPr id="11" name="card-Seu Antônio Prado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eu Antônio Prado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Antônio Prado, 74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tablet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não entender a tela, eu ligo para o síndico.”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botões com verbo, confirmação depois de cada envio.</a:t>
            </a:r>
            <a:endParaRPr lang="en-US" sz="1300" dirty="0"/>
          </a:p>
        </p:txBody>
      </p:sp>
      <p:sp>
        <p:nvSpPr>
          <p:cNvPr id="19" name="card-Lucas Lope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Lucas Lope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Lopes, 21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só os serviços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“Só entro quando alguém me pede para mandar a foto do relógio da água.”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fazer e sair; câmera abrindo direto no celular.</a:t>
            </a:r>
            <a:endParaRPr lang="en-US" sz="1300" dirty="0"/>
          </a:p>
        </p:txBody>
      </p:sp>
      <p:sp>
        <p:nvSpPr>
          <p:cNvPr id="27" name="card-Camila Duarte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Camila Duarte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Camila Duarte, 33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 (locatária)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“Acabei de me mudar e não sei como as coisas funcionam aqui.”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que explica o papel; situação de cada pessoa da casa visível.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3200" dirty="0"/>
          </a:p>
        </p:txBody>
      </p:sp>
      <p:sp>
        <p:nvSpPr>
          <p:cNvPr id="3" name="card-Carlos Menez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Carlos Menez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Menezes, 58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 e administrador do site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“Sou voluntário. Preciso que o portal me poupe tempo, não que me dê trabalho.”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num lugar só; regras configuráveis; registro de quem fez o quê.</a:t>
            </a:r>
            <a:endParaRPr lang="en-US" sz="1300" dirty="0"/>
          </a:p>
        </p:txBody>
      </p:sp>
      <p:sp>
        <p:nvSpPr>
          <p:cNvPr id="11" name="card-Sueli Ramos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ueli Ramos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Sueli Ramos, 51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Subsíndica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“Quando o Carlos viaja, sou eu que respondo.”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cada demanda: quem leu, quem respondeu e quando.</a:t>
            </a:r>
            <a:endParaRPr lang="en-US" sz="1300" dirty="0"/>
          </a:p>
        </p:txBody>
      </p:sp>
      <p:sp>
        <p:nvSpPr>
          <p:cNvPr id="19" name="card-Otávio Lima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Otávio Lima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Otávio Lima, 63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Conselho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acompanhar se a gestão está funcionando, sem me meter na vida dos vizinhos.”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 andamento, sem identificar as pessoas.</a:t>
            </a:r>
            <a:endParaRPr lang="en-US" sz="1300" dirty="0"/>
          </a:p>
        </p:txBody>
      </p:sp>
      <p:sp>
        <p:nvSpPr>
          <p:cNvPr id="27" name="card-Fernanda Costa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Fernanda Costa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Costa, 38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82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condominial (não moradora)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do escritório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“Cuido de vinte condomínios. Preciso dos dados certos, rápido, e de registro de tudo.”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direto na gestão; exportações para o boleto; acesso ligado ao contrato.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Funcionamento do site e quem fica de fora</a:t>
            </a:r>
            <a:endParaRPr lang="en-US" sz="3200" dirty="0"/>
          </a:p>
        </p:txBody>
      </p:sp>
      <p:sp>
        <p:nvSpPr>
          <p:cNvPr id="3" name="card-Marcos Teixeira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Marcos Teixeira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Teixeira, 41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(sem cargo)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“Faço o portal funcionar, mas não devo ver a vida de ninguém.”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o portal sem ver dados pessoais; restrições explicadas na tela.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BEBC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519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4270248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B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Exceção decidida em 18/10/2026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475488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site, mesmo sem cargo, vê o registro de atividades com nomes. Fora isso, não vê nenhum dado pessoal: só números, situações e e-mails mascarados.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233008" y="1325880"/>
            <a:ext cx="5410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usa o portal, mas é afetado por ele</a:t>
            </a:r>
            <a:endParaRPr lang="en-US" sz="1800" dirty="0"/>
          </a:p>
        </p:txBody>
      </p:sp>
      <p:sp>
        <p:nvSpPr>
          <p:cNvPr id="16" name="Shape 11"/>
          <p:cNvSpPr/>
          <p:nvPr/>
        </p:nvSpPr>
        <p:spPr>
          <a:xfrm>
            <a:off x="6233008" y="1920240"/>
            <a:ext cx="548640" cy="54864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024" y="2048256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64528" y="1901952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Ex-moradores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964528" y="2240280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inativo: não entram mais, mas a moradia e o histórico ficam guardados.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33008" y="2944368"/>
            <a:ext cx="548640" cy="54864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024" y="3072384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964528" y="292608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 canceladas ou recusadas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964528" y="3264408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chegaram a morar; não aparecem entre os ex-moradores.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6233008" y="3968496"/>
            <a:ext cx="548640" cy="54864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024" y="4096512"/>
            <a:ext cx="292608" cy="29260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964528" y="3950208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Prestadores de serviço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6964528" y="4288536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 a lista de casas fora do portal.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233008" y="4992624"/>
            <a:ext cx="548640" cy="54864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1024" y="5120640"/>
            <a:ext cx="292608" cy="29260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64528" y="4974336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Visitantes, corretores e imobiliárias</a:t>
            </a:r>
            <a:endParaRPr lang="en-US" sz="1500" dirty="0"/>
          </a:p>
        </p:txBody>
      </p:sp>
      <p:sp>
        <p:nvSpPr>
          <p:cNvPr id="31" name="Text 22"/>
          <p:cNvSpPr txBox="1"/>
          <p:nvPr/>
        </p:nvSpPr>
        <p:spPr>
          <a:xfrm>
            <a:off x="6964528" y="5312664"/>
            <a:ext cx="467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acesso: o portal é só de quem foi convidado ou aprovado.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→ para: cada persona e o seu perfil de acesso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"/>
                <a:gridCol w="3108960"/>
                <a:gridCol w="4876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De: persona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Para: perfil de acesso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prática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Renata, Seu Antônio, Camila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perfil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 da própria casa: indica e remove moradores, escolhe quem vê a parte financeira, recebe as cobranças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(só os serviços)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a casa, avisos, serviços sem valores; envia a leitura do hidrômetro e demandas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síndico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a gestão: aprova moradores, troca o principal, atribui cargos, configura regras e 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Sueli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subsíndica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do dia a dia e denúncias; não aprova moradores nem atribui cargos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Otávio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 a gestão; denúncias e registro de atividades sem identificar ninguém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Administradora condominial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com dados pessoais e denúncias; sem as funções de morador; acesso pelo prazo do 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Casas, convites, conteúdo e configurações do site; sem dados pessoais (exceto o registro)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própria casa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2011680"/>
                <a:gridCol w="2499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própria casa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os serviços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 com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financeira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principal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Avisos, documentos e coleta de lixo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demandas à ouvidoria (com nome ou sem) e acompanhar as suas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os moradores e os pets da casa; cadastrar pets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a leitura do hidrômetro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valores e cobranças da casa; aderir a serviços cobrados no boleto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e remover moradores; passar a função de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quem da casa vê a parte financeira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os avisos de cobrança e os avisos oficiais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O próprio e o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se o morador vê a parte financeira é o perfil principal. Quem é da gestão ou administrador do site também é morador: na própria casa, valem estas colunas. A administradora condominial não mora no condomínio e não tem estas funções.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gestão do condomínio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1371600"/>
                <a:gridCol w="1371600"/>
                <a:gridCol w="1371600"/>
                <a:gridCol w="1463040"/>
                <a:gridCol w="16276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gestão do 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Síndico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Subsíndico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Conselho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Administradora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 do site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cargo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casas e enviar convites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Aprovar moradores indicados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perfil principal de uma casa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todas as casas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demandas da ouvidoria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denúncias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números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 de 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Sem nomes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Mudar o prazo de guarda do registro (padrão 5 anos)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cargos e o papel de administrador do 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as regras da gestão (prazos, textos, serviços)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o site e o conteúdo institucional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nomes: o conselho vê um código no lugar do nome, sem casa, e-mail, motivo ou IP. Se configurado: a administradora aprova ou troca o principal só se o síndico ligar a opção. Demanda sem identificação nunca entra no registro.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regras de privacidade</a:t>
            </a:r>
            <a:endParaRPr lang="en-US" sz="3200" dirty="0"/>
          </a:p>
        </p:txBody>
      </p:sp>
      <p:sp>
        <p:nvSpPr>
          <p:cNvPr id="3" name="regra-0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938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Conselho sem identificação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Denúncias só em números; registro de atividades com códigos no lugar dos nomes.</a:t>
            </a:r>
            <a:endParaRPr lang="en-US" sz="1400" dirty="0"/>
          </a:p>
        </p:txBody>
      </p:sp>
      <p:sp>
        <p:nvSpPr>
          <p:cNvPr id="8" name="regra-1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312" y="19385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do site sem dados pessoais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números, situações e e-mails mascarados. Exceção: o registro de atividades.</a:t>
            </a:r>
            <a:endParaRPr lang="en-US" sz="1400" dirty="0"/>
          </a:p>
        </p:txBody>
      </p:sp>
      <p:sp>
        <p:nvSpPr>
          <p:cNvPr id="13" name="regra-2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496" y="19385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Anonimato garantido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sem identificação não gera registro de atividade nem guarda IP.</a:t>
            </a:r>
            <a:endParaRPr lang="en-US" sz="1400" dirty="0"/>
          </a:p>
        </p:txBody>
      </p:sp>
      <p:sp>
        <p:nvSpPr>
          <p:cNvPr id="18" name="regra-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679" y="193852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com prazo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e quando, guardado por 5 anos (configurável) e depois apagado.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que saem das personas</a:t>
            </a:r>
            <a:endParaRPr lang="en-US" sz="3200" dirty="0"/>
          </a:p>
        </p:txBody>
      </p:sp>
      <p:sp>
        <p:nvSpPr>
          <p:cNvPr id="3" name="principio-0"/>
          <p:cNvSpPr/>
          <p:nvPr/>
        </p:nvSpPr>
        <p:spPr>
          <a:xfrm>
            <a:off x="548640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o morador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telas são feitas para o morador; a gestão entra sobre essa base.</a:t>
            </a:r>
            <a:endParaRPr lang="en-US" sz="1400" dirty="0"/>
          </a:p>
        </p:txBody>
      </p:sp>
      <p:sp>
        <p:nvSpPr>
          <p:cNvPr id="7" name="principio-1"/>
          <p:cNvSpPr/>
          <p:nvPr/>
        </p:nvSpPr>
        <p:spPr>
          <a:xfrm>
            <a:off x="4338218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 primeiro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esquecer o computador de quem prefere a tela grande.</a:t>
            </a:r>
            <a:endParaRPr lang="en-US" sz="1400" dirty="0"/>
          </a:p>
        </p:txBody>
      </p:sp>
      <p:sp>
        <p:nvSpPr>
          <p:cNvPr id="11" name="principio-2"/>
          <p:cNvSpPr/>
          <p:nvPr/>
        </p:nvSpPr>
        <p:spPr>
          <a:xfrm>
            <a:off x="8127797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para todas as idades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verbos nos botões, confirmação depois de cada envio.</a:t>
            </a:r>
            <a:endParaRPr lang="en-US" sz="1400" dirty="0"/>
          </a:p>
        </p:txBody>
      </p:sp>
      <p:sp>
        <p:nvSpPr>
          <p:cNvPr id="15" name="principio-3"/>
          <p:cNvSpPr/>
          <p:nvPr/>
        </p:nvSpPr>
        <p:spPr>
          <a:xfrm>
            <a:off x="548640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casa responde uma vez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Adesão e leitura são da casa: a tela mostra quem já respondeu.</a:t>
            </a:r>
            <a:endParaRPr lang="en-US" sz="1400" dirty="0"/>
          </a:p>
        </p:txBody>
      </p:sp>
      <p:sp>
        <p:nvSpPr>
          <p:cNvPr id="19" name="principio-4"/>
          <p:cNvSpPr/>
          <p:nvPr/>
        </p:nvSpPr>
        <p:spPr>
          <a:xfrm>
            <a:off x="4338218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2538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612538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quando algo fica oculto, a tela explica por quê.</a:t>
            </a:r>
            <a:endParaRPr lang="en-US" sz="1400" dirty="0"/>
          </a:p>
        </p:txBody>
      </p:sp>
      <p:sp>
        <p:nvSpPr>
          <p:cNvPr id="23" name="principio-5"/>
          <p:cNvSpPr/>
          <p:nvPr/>
        </p:nvSpPr>
        <p:spPr>
          <a:xfrm>
            <a:off x="8127797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02117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8402117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fixo no código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Prazos, textos e regras ficam nas configurações.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conselho confirmar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93192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sem cargo vê o registro de atividades com nomes.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principal passa a ver os ex-moradores da própria casa?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guarda do registro: 5 anos.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troca do principal e de remoção de morador só para o síndico.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9319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anto Ferrari">
  <a:themeElements>
    <a:clrScheme name="Recanto Ferrari">
      <a:dk1>
        <a:srgbClr val="2B1E1C"/>
      </a:dk1>
      <a:lt1>
        <a:srgbClr val="FFFFFF"/>
      </a:lt1>
      <a:dk2>
        <a:srgbClr val="051622"/>
      </a:dk2>
      <a:lt2>
        <a:srgbClr val="FAF7F2"/>
      </a:lt2>
      <a:accent1>
        <a:srgbClr val="9E3826"/>
      </a:accent1>
      <a:accent2>
        <a:srgbClr val="264B65"/>
      </a:accent2>
      <a:accent3>
        <a:srgbClr val="D46A43"/>
      </a:accent3>
      <a:accent4>
        <a:srgbClr val="545814"/>
      </a:accent4>
      <a:accent5>
        <a:srgbClr val="78287C"/>
      </a:accent5>
      <a:accent6>
        <a:srgbClr val="6E5B58"/>
      </a:accent6>
      <a:hlink>
        <a:srgbClr val="264B65"/>
      </a:hlink>
      <a:folHlink>
        <a:srgbClr val="78287C"/>
      </a:folHlink>
    </a:clrScheme>
    <a:fontScheme name="Recanto Ferrar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Condomínio Recanto Ferrari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Personas e perfis de acesso</dc:title>
  <dc:subject>PptxGenJS Presentation</dc:subject>
  <dc:creator>Condomínio Recanto Ferrari</dc:creator>
  <cp:lastModifiedBy>Condomínio Recanto Ferrari</cp:lastModifiedBy>
  <cp:revision>1</cp:revision>
  <dcterms:created xsi:type="dcterms:W3CDTF">2026-10-18T17:30:43Z</dcterms:created>
  <dcterms:modified xsi:type="dcterms:W3CDTF">2026-10-18T17:30:43Z</dcterms:modified>
</cp:coreProperties>
</file>