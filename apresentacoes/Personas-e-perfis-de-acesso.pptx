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9705095-a59f-4aa4-4c56-fe1f71272e75}">
          <p14:sldIdLst>
            <p14:sldId id="256"/>
            <p14:sldId id="257"/>
          </p14:sldIdLst>
        </p14:section>
        <p14:section name="Perfis de acesso" id="{fdedcf5a-b545-1a9d-92c4-ebd8f9b3de22}">
          <p14:sldIdLst>
            <p14:sldId id="258"/>
          </p14:sldIdLst>
        </p14:section>
        <p14:section name="Personas" id="{216a4c32-53f7-a582-f282-a0a637c47858}">
          <p14:sldIdLst>
            <p14:sldId id="259"/>
            <p14:sldId id="260"/>
            <p14:sldId id="261"/>
            <p14:sldId id="262"/>
          </p14:sldIdLst>
        </p14:section>
        <p14:section name="De → para" id="{b891550d-335a-9a07-a886-ff2918d19243}">
          <p14:sldIdLst>
            <p14:sldId id="263"/>
          </p14:sldIdLst>
        </p14:section>
        <p14:section name="O que cada um acessa" id="{fd54fa8d-7745-2741-b923-9719e8c75e54}">
          <p14:sldIdLst>
            <p14:sldId id="264"/>
            <p14:sldId id="265"/>
          </p14:sldIdLst>
        </p14:section>
        <p14:section name="Privacidade e princípios" id="{62fb017b-f097-fac2-42c1-99411df4e58e}">
          <p14:sldIdLst>
            <p14:sldId id="266"/>
            <p14:sldId id="267"/>
          </p14:sldIdLst>
        </p14:section>
        <p14:section name="Encerramento" id="{bc38fe22-07b1-9cb7-4292-cdb1c13dda1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para o conselho e demais envolvidos: quem são as pessoas que usam o portal, que perfil de acesso cada uma tem e o que cada perfil vê e não vê. As personas são fictícias, mas representam os perfis reais definidos na arquitetura do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personas não são pessoas reais do condomínio: são retratos inventados que ajudam a lembrar das diferenças de idade, de aparelho e de familiaridade digital. Servem para desenhar telas, escrever textos e decidir quem vê o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usuário começa como morador. Sobre essa base se somam o papel de perfil principal da casa, um cargo na gestão e o papel de administrador do site. Uma pessoa pode ter vários ao mesmo tempo. A administradora condominial é a exceção: não mora no condomínio e só tem as ferramentas de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moradores vão de quem resolve tudo pelo celular (Renata) a quem tem pouca familiaridade digital (Seu Antônio). O Lucas mostra o morador que só vê os serviços, sem valores. A Camila representa quem acabou de chegar e ainda não conhece as regras.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Carlos e Sueli tocam o dia a dia. A Helena preside o conselho e vê tudo para fiscalizar, sem aprovar moradores, atribuir cargos ou configurar. O Otávio, membro do conselho, acompanha números e andamento sem identificar os moradores.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Fernanda é da administradora contratada: não mora aqui e precisa dos dados para cobranças e para o jurídico. O Marcos cuida do site. Pela decisão do síndico, o administrador do site tem os mesmos poderes do síndico depois de assinar o termo de confidencialidade no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Pessoas que não usam o portal, mas aparecem nele ou dependem dele. Ex-moradores ficam com o cadastro inativo e o histórico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 → para liga cada persona ao perfil de acesso que ela tem no portal e resume o que isso quer dizer na prática. Os detalhes do que cada perfil acessa estão nos dois quadros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quadro: o que cada pessoa faz na própria casa. A diferença entre os dois tipos de morador é a parte financeira, que o perfil principal libera ou não. O perfil principal concentra as decisões sobre quem mora na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quadro: as ferramentas de gestão. O síndico e o administrador do site com o termo de confidencialidade assinado têm os mesmos poderes. A presidente do conselho vê tudo e responde denúncias, mas não aprova moradores, não atribui cargos nem configura. Os demais membros do conselho veem as denúncias só em números e o registro sem identificar as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regras valem no sistema, e não só na tela: mesmo que alguém tente acessar diretamente, o portal não entrega o dado a quem não tem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princípios resumem o que as personas pedem das telas. Servem de checklist para cada tela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o conselho validar. O termo de confidencialidade e o cargo de presidente do conselho já estão no portal; o texto do termo é um modelo e deve passar pelo jurídico.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5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Condomínio Recanto Ferrari · Personas e perfis de acesso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usa o portal e o que cada um vê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 perfis de acesso do Portal do Condomínio Recanto Ferrari · Outubro de 2026</a:t>
            </a:r>
            <a:endParaRPr lang="en-US" sz="2000" dirty="0"/>
          </a:p>
        </p:txBody>
      </p:sp>
      <p:pic>
        <p:nvPicPr>
          <p:cNvPr id="4" name="Image 0" descr="Avatar ilustrado de Renata Lo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240280"/>
            <a:ext cx="749808" cy="749808"/>
          </a:xfrm>
          <a:prstGeom prst="rect">
            <a:avLst/>
          </a:prstGeom>
        </p:spPr>
      </p:pic>
      <p:pic>
        <p:nvPicPr>
          <p:cNvPr id="5" name="Image 1" descr="Avatar ilustrado de Seu Antônio Pr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2240280"/>
            <a:ext cx="749808" cy="749808"/>
          </a:xfrm>
          <a:prstGeom prst="rect">
            <a:avLst/>
          </a:prstGeom>
        </p:spPr>
      </p:pic>
      <p:pic>
        <p:nvPicPr>
          <p:cNvPr id="6" name="Image 2" descr="Avatar ilustrado de Lucas Lop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56" y="2240280"/>
            <a:ext cx="749808" cy="749808"/>
          </a:xfrm>
          <a:prstGeom prst="rect">
            <a:avLst/>
          </a:prstGeom>
        </p:spPr>
      </p:pic>
      <p:pic>
        <p:nvPicPr>
          <p:cNvPr id="7" name="Image 3" descr="Avatar ilustrado de Camila Duar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240280"/>
            <a:ext cx="749808" cy="749808"/>
          </a:xfrm>
          <a:prstGeom prst="rect">
            <a:avLst/>
          </a:prstGeom>
        </p:spPr>
      </p:pic>
      <p:pic>
        <p:nvPicPr>
          <p:cNvPr id="8" name="Image 4" descr="Avatar ilustrado de Carlos Menez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2240280"/>
            <a:ext cx="749808" cy="749808"/>
          </a:xfrm>
          <a:prstGeom prst="rect">
            <a:avLst/>
          </a:prstGeom>
        </p:spPr>
      </p:pic>
      <p:pic>
        <p:nvPicPr>
          <p:cNvPr id="9" name="Image 5" descr="Avatar ilustrado de Sueli Ram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3108960"/>
            <a:ext cx="749808" cy="749808"/>
          </a:xfrm>
          <a:prstGeom prst="rect">
            <a:avLst/>
          </a:prstGeom>
        </p:spPr>
      </p:pic>
      <p:pic>
        <p:nvPicPr>
          <p:cNvPr id="10" name="Image 6" descr="Avatar ilustrado de Helena Barro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608" y="3108960"/>
            <a:ext cx="749808" cy="749808"/>
          </a:xfrm>
          <a:prstGeom prst="rect">
            <a:avLst/>
          </a:prstGeom>
        </p:spPr>
      </p:pic>
      <p:pic>
        <p:nvPicPr>
          <p:cNvPr id="11" name="Image 7" descr="Avatar ilustrado de Otávio Lim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4856" y="3108960"/>
            <a:ext cx="749808" cy="749808"/>
          </a:xfrm>
          <a:prstGeom prst="rect">
            <a:avLst/>
          </a:prstGeom>
        </p:spPr>
      </p:pic>
      <p:pic>
        <p:nvPicPr>
          <p:cNvPr id="12" name="Image 8" descr="Avatar ilustrado de Fernanda Costa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6104" y="3108960"/>
            <a:ext cx="749808" cy="749808"/>
          </a:xfrm>
          <a:prstGeom prst="rect">
            <a:avLst/>
          </a:prstGeom>
        </p:spPr>
      </p:pic>
      <p:pic>
        <p:nvPicPr>
          <p:cNvPr id="13" name="Image 9" descr="Avatar ilustrado de Marcos Teixeir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7352" y="3108960"/>
            <a:ext cx="749808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servem as personas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22960" cy="822960"/>
          </a:xfrm>
          <a:prstGeom prst="ellipse">
            <a:avLst/>
          </a:prstGeom>
          <a:solidFill>
            <a:srgbClr val="F5C8A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481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reais por trás dos perfis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90195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personas fictícias representam moradores, gestão, administradora e administrador do site, com idades, aparelhos e familiaridades diferentes.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rgbClr val="F5C8A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9900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 desenhadas para quem vai usar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4107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tela é pensada para uma persona principal e conferida com uma secundária. Se o Seu Antônio entende, todos entendem.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480560"/>
            <a:ext cx="822960" cy="822960"/>
          </a:xfrm>
          <a:prstGeom prst="ellipse">
            <a:avLst/>
          </a:prstGeom>
          <a:solidFill>
            <a:srgbClr val="F5C8A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634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vê só o que precisa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9194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perfis definem o que cada pessoa acessa. A regra vale no sistema, não só na tela, e o que fica oculto é explicado.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503920" y="1463040"/>
            <a:ext cx="3136392" cy="3840480"/>
          </a:xfrm>
          <a:prstGeom prst="roundRect">
            <a:avLst>
              <a:gd name="adj" fmla="val 1458"/>
            </a:avLst>
          </a:prstGeom>
          <a:solidFill>
            <a:srgbClr val="05162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778240" y="1737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5C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0" dirty="0"/>
          </a:p>
        </p:txBody>
      </p:sp>
      <p:sp>
        <p:nvSpPr>
          <p:cNvPr id="17" name="Text 12"/>
          <p:cNvSpPr txBox="1"/>
          <p:nvPr/>
        </p:nvSpPr>
        <p:spPr>
          <a:xfrm>
            <a:off x="877824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778240" y="338328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moradores, 5 na gestão do condomínio e 1 administrador do site. Nomes e histórias são inventados.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perfis de acesso se somam</a:t>
            </a:r>
            <a:endParaRPr lang="en-US" sz="3200" dirty="0"/>
          </a:p>
        </p:txBody>
      </p:sp>
      <p:sp>
        <p:nvSpPr>
          <p:cNvPr id="3" name="base-morador"/>
          <p:cNvSpPr/>
          <p:nvPr/>
        </p:nvSpPr>
        <p:spPr>
          <a:xfrm>
            <a:off x="548640" y="4434840"/>
            <a:ext cx="7863840" cy="1005840"/>
          </a:xfrm>
          <a:prstGeom prst="roundRect">
            <a:avLst>
              <a:gd name="adj" fmla="val 4545"/>
            </a:avLst>
          </a:prstGeom>
          <a:solidFill>
            <a:srgbClr val="F5C8A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4553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Morador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919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que mora no condomínio. Vê a própria casa, avisos, documentos e ouvidoria.</a:t>
            </a:r>
            <a:endParaRPr lang="en-US" sz="1400" dirty="0"/>
          </a:p>
        </p:txBody>
      </p:sp>
      <p:sp>
        <p:nvSpPr>
          <p:cNvPr id="6" name="camada-0"/>
          <p:cNvSpPr/>
          <p:nvPr/>
        </p:nvSpPr>
        <p:spPr>
          <a:xfrm>
            <a:off x="548640" y="1463040"/>
            <a:ext cx="2468880" cy="2651760"/>
          </a:xfrm>
          <a:prstGeom prst="roundRect">
            <a:avLst>
              <a:gd name="adj" fmla="val 1852"/>
            </a:avLst>
          </a:prstGeom>
          <a:solidFill>
            <a:srgbClr val="FAF7F2"/>
          </a:solidFill>
          <a:ln w="19050">
            <a:solidFill>
              <a:srgbClr val="9E38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principal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casa: indica e remove moradores, escolhe quem vê a parte financeira.</a:t>
            </a:r>
            <a:endParaRPr lang="en-US" sz="1300" dirty="0"/>
          </a:p>
        </p:txBody>
      </p:sp>
      <p:sp>
        <p:nvSpPr>
          <p:cNvPr id="10" name="camada-1"/>
          <p:cNvSpPr/>
          <p:nvPr/>
        </p:nvSpPr>
        <p:spPr>
          <a:xfrm>
            <a:off x="3246120" y="1463040"/>
            <a:ext cx="2468880" cy="2651760"/>
          </a:xfrm>
          <a:prstGeom prst="roundRect">
            <a:avLst>
              <a:gd name="adj" fmla="val 1852"/>
            </a:avLst>
          </a:prstGeom>
          <a:solidFill>
            <a:srgbClr val="FAF7F2"/>
          </a:solidFill>
          <a:ln w="19050">
            <a:solidFill>
              <a:srgbClr val="264B6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64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condomínio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889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Síndico, subsíndico, presidente do conselho ou conselho. Cada cargo vê e faz coisas diferentes.</a:t>
            </a:r>
            <a:endParaRPr lang="en-US" sz="1300" dirty="0"/>
          </a:p>
        </p:txBody>
      </p:sp>
      <p:sp>
        <p:nvSpPr>
          <p:cNvPr id="14" name="camada-2"/>
          <p:cNvSpPr/>
          <p:nvPr/>
        </p:nvSpPr>
        <p:spPr>
          <a:xfrm>
            <a:off x="5943600" y="1463040"/>
            <a:ext cx="2468880" cy="2651760"/>
          </a:xfrm>
          <a:prstGeom prst="roundRect">
            <a:avLst>
              <a:gd name="adj" fmla="val 1852"/>
            </a:avLst>
          </a:prstGeom>
          <a:solidFill>
            <a:srgbClr val="FAF7F2"/>
          </a:solidFill>
          <a:ln w="19050">
            <a:solidFill>
              <a:srgbClr val="D46A4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46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do site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78892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 portal funcionar. Com o termo de confidencialidade assinado, tem os poderes do síndico.</a:t>
            </a:r>
            <a:endParaRPr lang="en-US" sz="1300" dirty="0"/>
          </a:p>
        </p:txBody>
      </p:sp>
      <p:sp>
        <p:nvSpPr>
          <p:cNvPr id="18" name="administradora"/>
          <p:cNvSpPr/>
          <p:nvPr/>
        </p:nvSpPr>
        <p:spPr>
          <a:xfrm>
            <a:off x="8778240" y="1463040"/>
            <a:ext cx="2862072" cy="3977640"/>
          </a:xfrm>
          <a:prstGeom prst="roundRect">
            <a:avLst>
              <a:gd name="adj" fmla="val 1597"/>
            </a:avLst>
          </a:prstGeom>
          <a:solidFill>
            <a:srgbClr val="05162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691640"/>
            <a:ext cx="502920" cy="5029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052560" y="2331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Administradora condominial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052560" y="30632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que não é moradora. Entra direto na gestão, vê os dados para cobranças e denúncias, e o acesso vale enquanto durar o contrato.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o síndico é morador, tem cargo na gestão e pode ser também administrador do site.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Moradores</a:t>
            </a:r>
            <a:endParaRPr lang="en-US" sz="3200" dirty="0"/>
          </a:p>
        </p:txBody>
      </p:sp>
      <p:sp>
        <p:nvSpPr>
          <p:cNvPr id="3" name="card-Renata Lopes"/>
          <p:cNvSpPr/>
          <p:nvPr/>
        </p:nvSpPr>
        <p:spPr>
          <a:xfrm>
            <a:off x="548640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4" name="Image 0" descr="Avatar ilustrado de Renata Lopes (persona fictíci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Renata Lopes, 46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· perfil principal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58568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65960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resolver as coisas da casa em dois minutos, entre uma reunião e outra.”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e valores à vista; saber quem da casa já respondeu.</a:t>
            </a:r>
            <a:endParaRPr lang="en-US" sz="1300" dirty="0"/>
          </a:p>
        </p:txBody>
      </p:sp>
      <p:sp>
        <p:nvSpPr>
          <p:cNvPr id="11" name="card-Seu Antônio Prado"/>
          <p:cNvSpPr/>
          <p:nvPr/>
        </p:nvSpPr>
        <p:spPr>
          <a:xfrm>
            <a:off x="6233008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12" name="Image 2" descr="Avatar ilustrado de Seu Antônio Prado (persona fictíci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55448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21728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Antônio Prado, 74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421728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· perfil principal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728" y="225856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50328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e tablet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07328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não entender a tela, eu ligo para o síndico.”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507328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grande, botões com verbo, confirmação depois de cada envio.</a:t>
            </a:r>
            <a:endParaRPr lang="en-US" sz="1300" dirty="0"/>
          </a:p>
        </p:txBody>
      </p:sp>
      <p:sp>
        <p:nvSpPr>
          <p:cNvPr id="19" name="card-Lucas Lopes"/>
          <p:cNvSpPr/>
          <p:nvPr/>
        </p:nvSpPr>
        <p:spPr>
          <a:xfrm>
            <a:off x="548640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20" name="Image 4" descr="Avatar ilustrado de Lucas Lopes (persona fictíci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737360" y="423367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Lopes, 21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737360" y="459943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· só os serviços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491032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965960" y="487375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22960" y="5184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“Só entro quando alguém me pede para mandar a foto do relógio da água.”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22960" y="57881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Entrar, fazer e sair; câmera abrindo direto no celular.</a:t>
            </a:r>
            <a:endParaRPr lang="en-US" sz="1300" dirty="0"/>
          </a:p>
        </p:txBody>
      </p:sp>
      <p:sp>
        <p:nvSpPr>
          <p:cNvPr id="27" name="card-Camila Duarte"/>
          <p:cNvSpPr/>
          <p:nvPr/>
        </p:nvSpPr>
        <p:spPr>
          <a:xfrm>
            <a:off x="6233008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28" name="Image 6" descr="Avatar ilustrado de Camila Duarte (persona fictícia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4206240"/>
            <a:ext cx="822960" cy="8229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421728" y="423367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Camila Duarte, 33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7421728" y="459943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 · perfil principal (locatária)</a:t>
            </a:r>
            <a:endParaRPr lang="en-US" sz="13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728" y="491032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650328" y="487375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6507328" y="5184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“Acabei de me mudar e não sei como as coisas funcionam aqui.”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6507328" y="57881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que explica o papel; situação de cada pessoa da casa visível.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condomínio</a:t>
            </a:r>
            <a:endParaRPr lang="en-US" sz="3200" dirty="0"/>
          </a:p>
        </p:txBody>
      </p:sp>
      <p:sp>
        <p:nvSpPr>
          <p:cNvPr id="3" name="card-Carlos Menezes"/>
          <p:cNvSpPr/>
          <p:nvPr/>
        </p:nvSpPr>
        <p:spPr>
          <a:xfrm>
            <a:off x="548640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4" name="Image 0" descr="Avatar ilustrado de Carlos Menezes (persona fictíci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Menezes, 58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Síndico e administrador do site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58568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65960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e celular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 voluntário. Preciso que o portal me poupe tempo, não que me dê trabalho.”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num lugar só; regras configuráveis; registro de quem fez o quê.</a:t>
            </a:r>
            <a:endParaRPr lang="en-US" sz="1300" dirty="0"/>
          </a:p>
        </p:txBody>
      </p:sp>
      <p:sp>
        <p:nvSpPr>
          <p:cNvPr id="11" name="card-Sueli Ramos"/>
          <p:cNvSpPr/>
          <p:nvPr/>
        </p:nvSpPr>
        <p:spPr>
          <a:xfrm>
            <a:off x="6233008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12" name="Image 2" descr="Avatar ilustrado de Sueli Ramos (persona fictíci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55448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21728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Sueli Ramos, 51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421728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Subsíndica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728" y="225856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50328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07328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“Quando o Carlos viaja, sou eu que respondo.”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507328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cada demanda: quem leu, quem respondeu e quando.</a:t>
            </a:r>
            <a:endParaRPr lang="en-US" sz="1300" dirty="0"/>
          </a:p>
        </p:txBody>
      </p:sp>
      <p:sp>
        <p:nvSpPr>
          <p:cNvPr id="19" name="card-Helena Barros"/>
          <p:cNvSpPr/>
          <p:nvPr/>
        </p:nvSpPr>
        <p:spPr>
          <a:xfrm>
            <a:off x="548640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20" name="Image 4" descr="Avatar ilustrado de Helena Barros (persona fictíci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0"/>
            <a:ext cx="822960" cy="8229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737360" y="423367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Helena Barros, 66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737360" y="459943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do conselho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4910328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965960" y="487375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e celular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22960" y="5184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conselho responde aos moradores. Preciso ver tudo para fiscalizar de verdade.”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22960" y="57881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completos e registro fácil de filtrar; saber quem pode fazer o que ela não faz.</a:t>
            </a:r>
            <a:endParaRPr lang="en-US" sz="1300" dirty="0"/>
          </a:p>
        </p:txBody>
      </p:sp>
      <p:sp>
        <p:nvSpPr>
          <p:cNvPr id="27" name="card-Otávio Lima"/>
          <p:cNvSpPr/>
          <p:nvPr/>
        </p:nvSpPr>
        <p:spPr>
          <a:xfrm>
            <a:off x="6233008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28" name="Image 6" descr="Avatar ilustrado de Otávio Lima (persona fictícia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608" y="4206240"/>
            <a:ext cx="822960" cy="8229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421728" y="423367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Otávio Lima, 63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7421728" y="459943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4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do conselho</a:t>
            </a:r>
            <a:endParaRPr lang="en-US" sz="13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728" y="4910328"/>
            <a:ext cx="182880" cy="18288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650328" y="487375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6507328" y="518464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“Quero acompanhar se a gestão está funcionando, sem me meter na vida dos vizinhos.”</a:t>
            </a:r>
            <a:endParaRPr lang="en-US" sz="1400" dirty="0"/>
          </a:p>
        </p:txBody>
      </p:sp>
      <p:sp>
        <p:nvSpPr>
          <p:cNvPr id="34" name="Text 24"/>
          <p:cNvSpPr txBox="1"/>
          <p:nvPr/>
        </p:nvSpPr>
        <p:spPr>
          <a:xfrm>
            <a:off x="6507328" y="578815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 andamento, sem identificar as pessoas.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Administradora e administrador do site</a:t>
            </a:r>
            <a:endParaRPr lang="en-US" sz="3200" dirty="0"/>
          </a:p>
        </p:txBody>
      </p:sp>
      <p:sp>
        <p:nvSpPr>
          <p:cNvPr id="3" name="card-Fernanda Costa"/>
          <p:cNvSpPr/>
          <p:nvPr/>
        </p:nvSpPr>
        <p:spPr>
          <a:xfrm>
            <a:off x="548640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4" name="Image 0" descr="Avatar ilustrado de Fernanda Costa (persona fictíci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Fernanda Costa, 38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82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 condominial (não moradora)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58568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65960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do escritório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“Cuido de vinte condomínios. Preciso dos dados certos, rápido, e de registro de tudo.”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direto na gestão; exportações para o boleto; acesso ligado ao contrato.</a:t>
            </a:r>
            <a:endParaRPr lang="en-US" sz="1300" dirty="0"/>
          </a:p>
        </p:txBody>
      </p:sp>
      <p:sp>
        <p:nvSpPr>
          <p:cNvPr id="11" name="card-Marcos Teixeira"/>
          <p:cNvSpPr/>
          <p:nvPr/>
        </p:nvSpPr>
        <p:spPr>
          <a:xfrm>
            <a:off x="6233008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pic>
        <p:nvPicPr>
          <p:cNvPr id="12" name="Image 2" descr="Avatar ilustrado de Marcos Teixeira (persona fictíci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55448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21728" y="1581912"/>
            <a:ext cx="394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Teixeira, 41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421728" y="1947672"/>
            <a:ext cx="394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E3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do site (com o termo)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728" y="225856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50328" y="2221992"/>
            <a:ext cx="367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07328" y="2532888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B1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“Tenho acesso a tudo, então assinei o termo de confidencialidade. Sigilo é parte do trabalho.”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507328" y="3136392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Precisa: </a:t>
            </a:r>
            <a:pPr indent="0" marL="0">
              <a:buNone/>
            </a:pPr>
            <a:r>
              <a:rPr lang="en-US" sz="13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claro, assinado no próprio portal; saber o que muda antes e depois de assinar.</a:t>
            </a:r>
            <a:endParaRPr lang="en-US" sz="1300" dirty="0"/>
          </a:p>
        </p:txBody>
      </p:sp>
      <p:sp>
        <p:nvSpPr>
          <p:cNvPr id="19" name="termo"/>
          <p:cNvSpPr/>
          <p:nvPr/>
        </p:nvSpPr>
        <p:spPr>
          <a:xfrm>
            <a:off x="548640" y="3977640"/>
            <a:ext cx="11094415" cy="2377440"/>
          </a:xfrm>
          <a:prstGeom prst="roundRect">
            <a:avLst>
              <a:gd name="adj" fmla="val 1923"/>
            </a:avLst>
          </a:prstGeom>
          <a:solidFill>
            <a:srgbClr val="051622"/>
          </a:solidFill>
          <a:ln/>
        </p:spPr>
      </p:sp>
      <p:sp>
        <p:nvSpPr>
          <p:cNvPr id="20" name="Shape 14"/>
          <p:cNvSpPr/>
          <p:nvPr/>
        </p:nvSpPr>
        <p:spPr>
          <a:xfrm>
            <a:off x="868680" y="4297680"/>
            <a:ext cx="822960" cy="822960"/>
          </a:xfrm>
          <a:prstGeom prst="ellipse">
            <a:avLst/>
          </a:prstGeom>
          <a:solidFill>
            <a:srgbClr val="F5C8A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9884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920240" y="42702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de confidencialidade (decisão de 18/10/2026)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920240" y="4754880"/>
            <a:ext cx="93570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C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assinar: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do site cuida do funcionamento do portal, sem ver dados pessoais.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C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assinar: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os mesmos poderes do síndico e vê e usa tudo.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C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assina: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próprio portal, lendo o termo e digitando o nome completo. Texto, nome, data e IP ficam guardados; se o texto mudar, assina de novo.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usa o portal, mas é afetado por ele</a:t>
            </a:r>
            <a:endParaRPr lang="en-US" sz="3200" dirty="0"/>
          </a:p>
        </p:txBody>
      </p:sp>
      <p:sp>
        <p:nvSpPr>
          <p:cNvPr id="3" name="fora-0"/>
          <p:cNvSpPr/>
          <p:nvPr/>
        </p:nvSpPr>
        <p:spPr>
          <a:xfrm>
            <a:off x="548640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822960" cy="822960"/>
          </a:xfrm>
          <a:prstGeom prst="ellipse">
            <a:avLst/>
          </a:prstGeom>
          <a:solidFill>
            <a:srgbClr val="EBE7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470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Ex-moradores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06324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inativo: não entram mais, mas a moradia e o histórico ficam guardados para a gestão.</a:t>
            </a:r>
            <a:endParaRPr lang="en-US" sz="1400" dirty="0"/>
          </a:p>
        </p:txBody>
      </p:sp>
      <p:sp>
        <p:nvSpPr>
          <p:cNvPr id="8" name="fora-1"/>
          <p:cNvSpPr/>
          <p:nvPr/>
        </p:nvSpPr>
        <p:spPr>
          <a:xfrm>
            <a:off x="6233008" y="132588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3048" y="1645920"/>
            <a:ext cx="822960" cy="822960"/>
          </a:xfrm>
          <a:prstGeom prst="ellipse">
            <a:avLst/>
          </a:prstGeom>
          <a:solidFill>
            <a:srgbClr val="EBE7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216" y="18470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53048" y="265176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 canceladas ou recusadas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53048" y="306324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chegaram a morar; não aparecem entre os ex-moradores.</a:t>
            </a:r>
            <a:endParaRPr lang="en-US" sz="1400" dirty="0"/>
          </a:p>
        </p:txBody>
      </p:sp>
      <p:sp>
        <p:nvSpPr>
          <p:cNvPr id="13" name="fora-2"/>
          <p:cNvSpPr/>
          <p:nvPr/>
        </p:nvSpPr>
        <p:spPr>
          <a:xfrm>
            <a:off x="548640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8680" y="4297680"/>
            <a:ext cx="822960" cy="822960"/>
          </a:xfrm>
          <a:prstGeom prst="ellipse">
            <a:avLst/>
          </a:prstGeom>
          <a:solidFill>
            <a:srgbClr val="EBE7E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4988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8680" y="53035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Prestadores de serviço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68680" y="57150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Recebem a lista de casas exportada pelo síndico, fora do portal.</a:t>
            </a:r>
            <a:endParaRPr lang="en-US" sz="1400" dirty="0"/>
          </a:p>
        </p:txBody>
      </p:sp>
      <p:sp>
        <p:nvSpPr>
          <p:cNvPr id="18" name="fora-3"/>
          <p:cNvSpPr/>
          <p:nvPr/>
        </p:nvSpPr>
        <p:spPr>
          <a:xfrm>
            <a:off x="6233008" y="3977640"/>
            <a:ext cx="5410048" cy="2377440"/>
          </a:xfrm>
          <a:prstGeom prst="roundRect">
            <a:avLst>
              <a:gd name="adj" fmla="val 1923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53048" y="4297680"/>
            <a:ext cx="822960" cy="822960"/>
          </a:xfrm>
          <a:prstGeom prst="ellipse">
            <a:avLst/>
          </a:prstGeom>
          <a:solidFill>
            <a:srgbClr val="EBE7E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216" y="449884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53048" y="530352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Visitantes, corretores e imobiliárias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553048" y="5715000"/>
            <a:ext cx="476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acesso: o portal é só de quem foi convidado ou aprovado.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→ para: cada persona e o seu perfil de acesso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"/>
                <a:gridCol w="3108960"/>
                <a:gridCol w="48764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De: persona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Para: perfil de acesso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prática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Renata, Seu Antônio, Camila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perfil principal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da própria casa: indica e remove moradores, escolhe quem vê a parte financeira, recebe as cobranças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(só os serviços)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Vê a casa, avisos, serviços sem valores; envia a leitura do hidrômetro e demandas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síndico + administrador do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a gestão: aprova moradores, troca o principal, atribui cargos, configura regras e o 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subsíndica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do dia a dia e denúncias; não aprova moradores nem atribui cargos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Helena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presidente do conselho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Vê tudo, como o síndico, e responde denúncias; não aprova moradores, não atribui cargos nem configura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Otávio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membro do conselho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 a gestão; denúncias só em números e registro de atividades sem identificar ninguém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Administradora condominial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 com dados pessoais e denúncias; sem as funções de morador; acesso pelo prazo do contrato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E3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 + administrador do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o termo de confidencialidade assinado: tudo, como o síndico. Sem o termo: só o funcionamento do 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um acessa na própria casa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011680"/>
                <a:gridCol w="2011680"/>
                <a:gridCol w="249905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própria casa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Morador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os serviços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Morador com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 financeira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8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principal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82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Avisos, documentos e coleta de lixo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demandas à ouvidoria (com nome ou sem) e acompanhar as suas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os moradores e os pets da casa; cadastrar pets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a leitura do hidrômetro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valores e cobranças da casa; aderir a serviços cobrados no boleto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Indicar e remover moradores; passar a função de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quem da casa vê a parte financeira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Receber os avisos de cobrança e os avisos oficiais da casa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atividades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Só o próprio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Só o próprio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O próprio e o da casa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 se o morador vê a parte financeira é o perfil principal. Quem é da gestão ou administrador do site também é morador: na própria casa, valem estas colunas. A administradora condominial não mora no condomínio e não tem estas funções.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um acessa na gestão do condomínio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188720"/>
                <a:gridCol w="1188720"/>
                <a:gridCol w="1280160"/>
                <a:gridCol w="1280160"/>
                <a:gridCol w="1188720"/>
                <a:gridCol w="14447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 gestão do condomínio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Síndico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Subsíndico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Presidente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conselho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Membros 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conselho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Adminis-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tradora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Admin. do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o termo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B6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casas e enviar convites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Aprovar moradores indicados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Se configurado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Trocar o perfil principal de uma casa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Se configurado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 de todas as casas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e responder demandas da ouvidoria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e responder denúncias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Só números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atividades de 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4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 Sem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Com nomes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Mudar o prazo de guarda do registro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Atribuir cargos e o papel de administrador do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as regras da gestão (prazos, textos)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1E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Configurar o site e o conteúdo institucional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E5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58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C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nomes: código no lugar do nome, sem casa, e-mail, motivo ou IP. Se configurado: só se o síndico ligar a opção. O administrador do site sem o termo assinado só cadastra casas, envia convites e configura o site, sem dados pessoais (registro sem nomes).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regras de privacidade</a:t>
            </a:r>
            <a:endParaRPr lang="en-US" sz="3200" dirty="0"/>
          </a:p>
        </p:txBody>
      </p:sp>
      <p:sp>
        <p:nvSpPr>
          <p:cNvPr id="3" name="regra-0"/>
          <p:cNvSpPr/>
          <p:nvPr/>
        </p:nvSpPr>
        <p:spPr>
          <a:xfrm>
            <a:off x="548640" y="1463040"/>
            <a:ext cx="2567864" cy="3840480"/>
          </a:xfrm>
          <a:prstGeom prst="roundRect">
            <a:avLst>
              <a:gd name="adj" fmla="val 1780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0516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Membros do conselho sem identificação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576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Denúncias só em números e registro com códigos. A presidência do conselho vê tudo.</a:t>
            </a:r>
            <a:endParaRPr lang="en-US" sz="1400" dirty="0"/>
          </a:p>
        </p:txBody>
      </p:sp>
      <p:sp>
        <p:nvSpPr>
          <p:cNvPr id="8" name="regra-1"/>
          <p:cNvSpPr/>
          <p:nvPr/>
        </p:nvSpPr>
        <p:spPr>
          <a:xfrm>
            <a:off x="3390824" y="1463040"/>
            <a:ext cx="2567864" cy="3840480"/>
          </a:xfrm>
          <a:prstGeom prst="roundRect">
            <a:avLst>
              <a:gd name="adj" fmla="val 1780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822960" cy="822960"/>
          </a:xfrm>
          <a:prstGeom prst="ellipse">
            <a:avLst/>
          </a:prstGeom>
          <a:solidFill>
            <a:srgbClr val="0516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312" y="19385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788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 antes dos dados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6576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do site só vê e usa tudo depois de assinar o termo de confidencialidade.</a:t>
            </a:r>
            <a:endParaRPr lang="en-US" sz="1400" dirty="0"/>
          </a:p>
        </p:txBody>
      </p:sp>
      <p:sp>
        <p:nvSpPr>
          <p:cNvPr id="13" name="regra-2"/>
          <p:cNvSpPr/>
          <p:nvPr/>
        </p:nvSpPr>
        <p:spPr>
          <a:xfrm>
            <a:off x="6233008" y="1463040"/>
            <a:ext cx="2567864" cy="3840480"/>
          </a:xfrm>
          <a:prstGeom prst="roundRect">
            <a:avLst>
              <a:gd name="adj" fmla="val 1780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822960" cy="822960"/>
          </a:xfrm>
          <a:prstGeom prst="ellipse">
            <a:avLst/>
          </a:prstGeom>
          <a:solidFill>
            <a:srgbClr val="05162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496" y="19385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788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Anonimato garantido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6576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sem identificação não gera registro de atividade nem guarda IP.</a:t>
            </a:r>
            <a:endParaRPr lang="en-US" sz="1400" dirty="0"/>
          </a:p>
        </p:txBody>
      </p:sp>
      <p:sp>
        <p:nvSpPr>
          <p:cNvPr id="18" name="regra-3"/>
          <p:cNvSpPr/>
          <p:nvPr/>
        </p:nvSpPr>
        <p:spPr>
          <a:xfrm>
            <a:off x="9075191" y="1463040"/>
            <a:ext cx="2567864" cy="3840480"/>
          </a:xfrm>
          <a:prstGeom prst="roundRect">
            <a:avLst>
              <a:gd name="adj" fmla="val 1780"/>
            </a:avLst>
          </a:prstGeom>
          <a:solidFill>
            <a:srgbClr val="FAF7F2"/>
          </a:solidFill>
          <a:ln w="12700">
            <a:solidFill>
              <a:srgbClr val="EBE7E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822960" cy="822960"/>
          </a:xfrm>
          <a:prstGeom prst="ellipse">
            <a:avLst/>
          </a:prstGeom>
          <a:solidFill>
            <a:srgbClr val="05162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679" y="193852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788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 prazo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657600"/>
            <a:ext cx="2019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fez o quê e quando, guardado por 5 anos (configurável) e depois apagado.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que saem das personas</a:t>
            </a:r>
            <a:endParaRPr lang="en-US" sz="3200" dirty="0"/>
          </a:p>
        </p:txBody>
      </p:sp>
      <p:sp>
        <p:nvSpPr>
          <p:cNvPr id="3" name="principio-0"/>
          <p:cNvSpPr/>
          <p:nvPr/>
        </p:nvSpPr>
        <p:spPr>
          <a:xfrm>
            <a:off x="548640" y="141732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EBE7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81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7568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o morador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telas são feitas para o morador; a gestão entra sobre essa base.</a:t>
            </a:r>
            <a:endParaRPr lang="en-US" sz="1400" dirty="0"/>
          </a:p>
        </p:txBody>
      </p:sp>
      <p:sp>
        <p:nvSpPr>
          <p:cNvPr id="7" name="principio-1"/>
          <p:cNvSpPr/>
          <p:nvPr/>
        </p:nvSpPr>
        <p:spPr>
          <a:xfrm>
            <a:off x="4338218" y="141732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FAF7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2538" y="1581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07568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Celular primeiro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6974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esquecer o computador de quem prefere a tela grande.</a:t>
            </a:r>
            <a:endParaRPr lang="en-US" sz="1400" dirty="0"/>
          </a:p>
        </p:txBody>
      </p:sp>
      <p:sp>
        <p:nvSpPr>
          <p:cNvPr id="11" name="principio-2"/>
          <p:cNvSpPr/>
          <p:nvPr/>
        </p:nvSpPr>
        <p:spPr>
          <a:xfrm>
            <a:off x="8127797" y="141732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EBE7E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02117" y="15819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07568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para todas as idades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6974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grande, verbos nos botões, confirmação depois de cada envio.</a:t>
            </a:r>
            <a:endParaRPr lang="en-US" sz="1400" dirty="0"/>
          </a:p>
        </p:txBody>
      </p:sp>
      <p:sp>
        <p:nvSpPr>
          <p:cNvPr id="15" name="principio-3"/>
          <p:cNvSpPr/>
          <p:nvPr/>
        </p:nvSpPr>
        <p:spPr>
          <a:xfrm>
            <a:off x="548640" y="356616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FAF7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casa responde uma vez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e leitura são da casa: a tela mostra quem já respondeu.</a:t>
            </a:r>
            <a:endParaRPr lang="en-US" sz="1400" dirty="0"/>
          </a:p>
        </p:txBody>
      </p:sp>
      <p:sp>
        <p:nvSpPr>
          <p:cNvPr id="19" name="principio-4"/>
          <p:cNvSpPr/>
          <p:nvPr/>
        </p:nvSpPr>
        <p:spPr>
          <a:xfrm>
            <a:off x="4338218" y="356616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EBE7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2538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4612538" y="422452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vê só o que precisa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8463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quando algo fica oculto, a tela explica por quê.</a:t>
            </a:r>
            <a:endParaRPr lang="en-US" sz="1400" dirty="0"/>
          </a:p>
        </p:txBody>
      </p:sp>
      <p:sp>
        <p:nvSpPr>
          <p:cNvPr id="23" name="principio-5"/>
          <p:cNvSpPr/>
          <p:nvPr/>
        </p:nvSpPr>
        <p:spPr>
          <a:xfrm>
            <a:off x="8127797" y="3566160"/>
            <a:ext cx="3515258" cy="1874520"/>
          </a:xfrm>
          <a:prstGeom prst="roundRect">
            <a:avLst>
              <a:gd name="adj" fmla="val 2439"/>
            </a:avLst>
          </a:prstGeom>
          <a:solidFill>
            <a:srgbClr val="FAF7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02117" y="3730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9E38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402117" y="4224528"/>
            <a:ext cx="2966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B1E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fixo no código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84632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5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Prazos, textos e regras ficam nas configurações.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5B5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A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conselho confirmar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931920"/>
            <a:ext cx="10789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do termo de confidencialidade (revisar com o jurídico).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Presidente do conselho: vê tudo e responde denúncias, sem aprovar moradores, atribuir cargos ou configurar.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principal passa a ver os ex-moradores da própria casa?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guarda do registro: 5 anos.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B9CD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troca do principal e de remoção de morador só para o síndico.</a:t>
            </a:r>
            <a:endParaRPr lang="en-US" sz="1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anto Ferrari">
  <a:themeElements>
    <a:clrScheme name="Recanto Ferrari">
      <a:dk1>
        <a:srgbClr val="2B1E1C"/>
      </a:dk1>
      <a:lt1>
        <a:srgbClr val="FFFFFF"/>
      </a:lt1>
      <a:dk2>
        <a:srgbClr val="051622"/>
      </a:dk2>
      <a:lt2>
        <a:srgbClr val="FAF7F2"/>
      </a:lt2>
      <a:accent1>
        <a:srgbClr val="9E3826"/>
      </a:accent1>
      <a:accent2>
        <a:srgbClr val="264B65"/>
      </a:accent2>
      <a:accent3>
        <a:srgbClr val="D46A43"/>
      </a:accent3>
      <a:accent4>
        <a:srgbClr val="545814"/>
      </a:accent4>
      <a:accent5>
        <a:srgbClr val="78287C"/>
      </a:accent5>
      <a:accent6>
        <a:srgbClr val="6E5B58"/>
      </a:accent6>
      <a:hlink>
        <a:srgbClr val="264B65"/>
      </a:hlink>
      <a:folHlink>
        <a:srgbClr val="78287C"/>
      </a:folHlink>
    </a:clrScheme>
    <a:fontScheme name="Recanto Ferrar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Condomínio Recanto Ferrari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Personas e perfis de acesso</dc:title>
  <dc:subject>PptxGenJS Presentation</dc:subject>
  <dc:creator>Condomínio Recanto Ferrari</dc:creator>
  <cp:lastModifiedBy>Condomínio Recanto Ferrari</cp:lastModifiedBy>
  <cp:revision>1</cp:revision>
  <dcterms:created xsi:type="dcterms:W3CDTF">2026-10-18T23:57:40Z</dcterms:created>
  <dcterms:modified xsi:type="dcterms:W3CDTF">2026-10-18T23:57:40Z</dcterms:modified>
</cp:coreProperties>
</file>